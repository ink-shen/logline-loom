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12192000" cy="6858000"/>
  <p:embeddedFontLst>
    <p:embeddedFont>
      <p:font typeface="MiSans" charset="-12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情绪</c:f>
              <c:strCache>
                <c:ptCount val="1"/>
                <c:pt idx="0">
                  <c:v>情绪</c:v>
                </c:pt>
              </c:strCache>
            </c:strRef>
          </c:tx>
          <c:spPr>
            <a:ln w="38100" cap="rnd" cmpd="sng" algn="ctr">
              <a:solidFill>
                <a:srgbClr val="624A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B9ACFF"/>
              </a:solidFill>
              <a:ln w="38100" cap="flat" cmpd="sng" algn="ctr">
                <a:solidFill>
                  <a:srgbClr val="624A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{"1","2","3","4","5","6","7","8","9","10","11","12","13","14"}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{5,5,5,4,3,4,5,5,6,7,7,9,8,9}</c:f>
              <c:numCache>
                <c:formatCode>General</c:formatCode>
                <c:ptCount val="1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7</c:v>
                </c:pt>
                <c:pt idx="11">
                  <c:v>9</c:v>
                </c:pt>
                <c:pt idx="12">
                  <c:v>8</c:v>
                </c:pt>
                <c:pt idx="13">
                  <c:v>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332B4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 noProof="1">
                <a:solidFill>
                  <a:srgbClr val="6B64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 cmpd="sng" algn="ctr">
              <a:solidFill>
                <a:srgbClr val="332B4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 noProof="1">
                <a:solidFill>
                  <a:srgbClr val="6B648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b06d1a9-d1ad-4c89-9d38-3e2a43d5d2c4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0:00–0:25 冷开场：一句话立住——我们带来两个成果：一台复刻电影流水线的 Agent，和一部由它生产的短片。说完直接播片。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0:25–3:45 放映《清单》成片（3 分 33 秒）。放映中不讲解。放映前：把本页链接替换为成片地址，并准备本地文件双备份。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3:45–3:55 过渡：播完后停顿一拍，念完这句直接进设计哲学。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3:55–4:40 设计哲学：三句话递进，第三句（把真实剧组的分工搬进 Agent）是核心，放慢语速，说完带出下一页架构图。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4:40–5:30 架构页：只讲三点——七个角色、契约交接、两处导演关口。图当背景板扫过，不逐框念。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5:30–5:45 两个刻意的设计：左边讲人机边界由机器执行，右边讲全链路可反查。各一句话即可。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5:45–6:10 为什么是《清单》：先抛问题（真正的 AI 伦理不在天上，在客厅里），再讲 9 月 5 日编剧 Agent 一次出五部 demo 的海选过程。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6:10–6:35 故事页：这是全场唯一需要讲感情的段落，梗概务必练熟，引文念慢。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6:35–6:55 为模型而选：绕开短板、踩中强项、控制一致性；指着曲线说低谷在冰箱锁死、顶点在亡妻条款，结尾收在 9 分。落点：「好」由谁定义？片子不给答案。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6:55–7:20 分工页：按交接面切人，不按模块切——每人手里是一段连续的管线，边界正好是契约文件。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7:20–7:35 收尾：一句话让两个成果合流，念完停顿，致谢。预留 25 秒机动缓冲到 8:00。</a:t>
            </a:r>
            <a:endParaRPr lang="en-US" sz="1200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&#28165;&#21333;_1.25x.mp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lock"/>
          <p:cNvSpPr/>
          <p:nvPr/>
        </p:nvSpPr>
        <p:spPr>
          <a:xfrm>
            <a:off x="8737600" y="0"/>
            <a:ext cx="3454400" cy="68580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3" name="cover-block-title"/>
          <p:cNvSpPr txBox="1"/>
          <p:nvPr/>
        </p:nvSpPr>
        <p:spPr>
          <a:xfrm>
            <a:off x="9093200" y="2286000"/>
            <a:ext cx="27432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600" b="1" noProof="1">
                <a:solidFill>
                  <a:srgbClr val="FFFFFF"/>
                </a:solidFill>
                <a:latin typeface="思源宋体"/>
                <a:ea typeface="思源宋体"/>
              </a:rPr>
              <a:t>《清单》</a:t>
            </a:r>
            <a:endParaRPr lang="en-US" sz="4600" noProof="1"/>
          </a:p>
        </p:txBody>
      </p:sp>
      <p:sp>
        <p:nvSpPr>
          <p:cNvPr id="4" name="cover-block-sub"/>
          <p:cNvSpPr txBox="1"/>
          <p:nvPr/>
        </p:nvSpPr>
        <p:spPr>
          <a:xfrm>
            <a:off x="9118600" y="3251200"/>
            <a:ext cx="2717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200" kern="0" spc="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THE LIST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kern="0" spc="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AI 科幻短片 · 226 秒</a:t>
            </a:r>
            <a:endParaRPr lang="en-US" sz="1200" noProof="1"/>
          </a:p>
        </p:txBody>
      </p:sp>
      <p:sp>
        <p:nvSpPr>
          <p:cNvPr id="5" name="cover-block-line"/>
          <p:cNvSpPr/>
          <p:nvPr/>
        </p:nvSpPr>
        <p:spPr>
          <a:xfrm>
            <a:off x="9118600" y="4318000"/>
            <a:ext cx="508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cover-meta"/>
          <p:cNvSpPr txBox="1"/>
          <p:nvPr/>
        </p:nvSpPr>
        <p:spPr>
          <a:xfrm>
            <a:off x="762000" y="558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魔搭社区「AI+∞ 开发者创作大赛」· </a:t>
            </a:r>
            <a:r>
              <a:rPr lang="zh-CN" alt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人工智能工程实践</a:t>
            </a: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结题答辩</a:t>
            </a:r>
            <a:endParaRPr lang="en-US" sz="1000" noProof="1"/>
          </a:p>
        </p:txBody>
      </p:sp>
      <p:sp>
        <p:nvSpPr>
          <p:cNvPr id="7" name="cover-meta-line"/>
          <p:cNvSpPr/>
          <p:nvPr/>
        </p:nvSpPr>
        <p:spPr>
          <a:xfrm>
            <a:off x="762000" y="939800"/>
            <a:ext cx="7112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8" name="cover-label"/>
          <p:cNvSpPr txBox="1"/>
          <p:nvPr/>
        </p:nvSpPr>
        <p:spPr>
          <a:xfrm>
            <a:off x="762000" y="1905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FILM AGENT</a:t>
            </a:r>
            <a:endParaRPr lang="en-US" sz="1100" noProof="1"/>
          </a:p>
        </p:txBody>
      </p:sp>
      <p:sp>
        <p:nvSpPr>
          <p:cNvPr id="9" name="cover-title"/>
          <p:cNvSpPr txBox="1"/>
          <p:nvPr/>
        </p:nvSpPr>
        <p:spPr>
          <a:xfrm>
            <a:off x="685800" y="21844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0" b="1" kern="0" spc="400" noProof="1">
                <a:solidFill>
                  <a:srgbClr val="F4F2FB"/>
                </a:solidFill>
                <a:latin typeface="MiSans" charset="-122"/>
                <a:ea typeface="MiSans" charset="-122"/>
              </a:rPr>
              <a:t>LOOM</a:t>
            </a:r>
            <a:endParaRPr lang="en-US" sz="15000" noProof="1"/>
          </a:p>
        </p:txBody>
      </p:sp>
      <p:sp>
        <p:nvSpPr>
          <p:cNvPr id="10" name="cover-fullname"/>
          <p:cNvSpPr txBox="1"/>
          <p:nvPr/>
        </p:nvSpPr>
        <p:spPr>
          <a:xfrm>
            <a:off x="762000" y="4419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kern="0" spc="1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Logline-Oriented Orchestration Machine</a:t>
            </a:r>
            <a:endParaRPr lang="en-US" sz="1500" noProof="1"/>
          </a:p>
        </p:txBody>
      </p:sp>
      <p:sp>
        <p:nvSpPr>
          <p:cNvPr id="11" name="cover-subtitle"/>
          <p:cNvSpPr txBox="1"/>
          <p:nvPr/>
        </p:nvSpPr>
        <p:spPr>
          <a:xfrm>
            <a:off x="762000" y="49276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电影 Agent 与短片《清单》</a:t>
            </a:r>
            <a:endParaRPr lang="en-US" sz="3000" noProof="1"/>
          </a:p>
        </p:txBody>
      </p:sp>
      <p:sp>
        <p:nvSpPr>
          <p:cNvPr id="12" name="cover-bottom-line"/>
          <p:cNvSpPr/>
          <p:nvPr/>
        </p:nvSpPr>
        <p:spPr>
          <a:xfrm>
            <a:off x="762000" y="5969000"/>
            <a:ext cx="7112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13" name="cover-bottom"/>
          <p:cNvSpPr txBox="1"/>
          <p:nvPr/>
        </p:nvSpPr>
        <p:spPr>
          <a:xfrm>
            <a:off x="762000" y="6146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汇报人：</a:t>
            </a:r>
            <a:r>
              <a:rPr lang="zh-CN" alt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沈墨涵</a:t>
            </a: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 · 2026.09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SCREENING</a:t>
            </a:r>
            <a:endParaRPr lang="en-US" sz="1100" noProof="1"/>
          </a:p>
        </p:txBody>
      </p:sp>
      <p:sp>
        <p:nvSpPr>
          <p:cNvPr id="3" name="v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02</a:t>
            </a:r>
            <a:endParaRPr lang="en-US" sz="1000" noProof="1"/>
          </a:p>
        </p:txBody>
      </p:sp>
      <p:sp>
        <p:nvSpPr>
          <p:cNvPr id="4" name="v-frame"/>
          <p:cNvSpPr/>
          <p:nvPr/>
        </p:nvSpPr>
        <p:spPr>
          <a:xfrm>
            <a:off x="2540000" y="1168400"/>
            <a:ext cx="7112000" cy="4000500"/>
          </a:xfrm>
          <a:prstGeom prst="rect">
            <a:avLst/>
          </a:prstGeom>
          <a:noFill/>
          <a:ln w="12700">
            <a:solidFill>
              <a:srgbClr val="332B4D"/>
            </a:solidFill>
          </a:ln>
        </p:spPr>
      </p:sp>
      <p:sp>
        <p:nvSpPr>
          <p:cNvPr id="7" name="v-title"/>
          <p:cNvSpPr txBox="1"/>
          <p:nvPr/>
        </p:nvSpPr>
        <p:spPr>
          <a:xfrm>
            <a:off x="2540000" y="2895600"/>
            <a:ext cx="711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kern="0" spc="400" noProof="1">
                <a:solidFill>
                  <a:srgbClr val="F4F2FB"/>
                </a:solidFill>
                <a:latin typeface="MiSans" charset="-122"/>
                <a:ea typeface="MiSans" charset="-122"/>
              </a:rPr>
              <a:t>《清单》 · THE LIST</a:t>
            </a:r>
            <a:endParaRPr lang="en-US" sz="4400" b="1" kern="0" spc="400" noProof="1">
              <a:solidFill>
                <a:srgbClr val="F4F2FB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8" name="v-link"/>
          <p:cNvSpPr txBox="1"/>
          <p:nvPr/>
        </p:nvSpPr>
        <p:spPr>
          <a:xfrm>
            <a:off x="2921000" y="392557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sz="1700" noProof="1">
                <a:hlinkClick r:id="rId1" tooltip="" action="ppaction://hlinkfile"/>
              </a:rPr>
              <a:t>清单</a:t>
            </a:r>
            <a:r>
              <a:rPr lang="en-US" altLang="zh-CN" sz="1700" noProof="1">
                <a:hlinkClick r:id="rId1" tooltip="" action="ppaction://hlinkfile"/>
              </a:rPr>
              <a:t>_1.25x.mp4</a:t>
            </a:r>
            <a:endParaRPr lang="en-US" altLang="zh-CN" sz="1700" noProof="1"/>
          </a:p>
        </p:txBody>
      </p:sp>
      <p:sp>
        <p:nvSpPr>
          <p:cNvPr id="10" name="v-corner-tl"/>
          <p:cNvSpPr/>
          <p:nvPr/>
        </p:nvSpPr>
        <p:spPr>
          <a:xfrm>
            <a:off x="2540000" y="1168400"/>
            <a:ext cx="304800" cy="381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11" name="v-corner-tl2"/>
          <p:cNvSpPr/>
          <p:nvPr/>
        </p:nvSpPr>
        <p:spPr>
          <a:xfrm>
            <a:off x="2540000" y="1168400"/>
            <a:ext cx="38100" cy="304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12" name="v-corner-br"/>
          <p:cNvSpPr/>
          <p:nvPr/>
        </p:nvSpPr>
        <p:spPr>
          <a:xfrm>
            <a:off x="9347200" y="5130800"/>
            <a:ext cx="304800" cy="381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13" name="v-corner-br2"/>
          <p:cNvSpPr/>
          <p:nvPr/>
        </p:nvSpPr>
        <p:spPr>
          <a:xfrm>
            <a:off x="9613900" y="4864100"/>
            <a:ext cx="38100" cy="304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03</a:t>
            </a:r>
            <a:endParaRPr lang="en-US" sz="1000" noProof="1"/>
          </a:p>
        </p:txBody>
      </p:sp>
      <p:sp>
        <p:nvSpPr>
          <p:cNvPr id="3" name="t-big"/>
          <p:cNvSpPr txBox="1"/>
          <p:nvPr/>
        </p:nvSpPr>
        <p:spPr>
          <a:xfrm>
            <a:off x="762000" y="1905000"/>
            <a:ext cx="106680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58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一句 logline 进去，</a:t>
            </a:r>
            <a:endParaRPr lang="en-US" sz="5800" noProof="1"/>
          </a:p>
          <a:p>
            <a:pPr algn="l">
              <a:lnSpc>
                <a:spcPct val="135000"/>
              </a:lnSpc>
            </a:pPr>
            <a:r>
              <a:rPr lang="en-US" sz="58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一部短片出来。</a:t>
            </a:r>
            <a:endParaRPr lang="en-US" sz="5800" noProof="1"/>
          </a:p>
        </p:txBody>
      </p:sp>
      <p:sp>
        <p:nvSpPr>
          <p:cNvPr id="4" name="t-sub"/>
          <p:cNvSpPr txBox="1"/>
          <p:nvPr/>
        </p:nvSpPr>
        <p:spPr>
          <a:xfrm>
            <a:off x="762000" y="47244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这部 226 秒的片子，从一句话开始，走完了一条完整的电影流水线。</a:t>
            </a:r>
            <a:endParaRPr lang="en-US" sz="1600" noProof="1"/>
          </a:p>
        </p:txBody>
      </p:sp>
      <p:sp>
        <p:nvSpPr>
          <p:cNvPr id="5" name="t-bar"/>
          <p:cNvSpPr/>
          <p:nvPr/>
        </p:nvSpPr>
        <p:spPr>
          <a:xfrm>
            <a:off x="762000" y="5334000"/>
            <a:ext cx="711200" cy="50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DESIGN PHILOSOPHY</a:t>
            </a:r>
            <a:endParaRPr lang="en-US" sz="1100" noProof="1"/>
          </a:p>
        </p:txBody>
      </p:sp>
      <p:sp>
        <p:nvSpPr>
          <p:cNvPr id="3" name="p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04</a:t>
            </a:r>
            <a:endParaRPr lang="en-US" sz="1000" noProof="1"/>
          </a:p>
        </p:txBody>
      </p:sp>
      <p:sp>
        <p:nvSpPr>
          <p:cNvPr id="4" name="p-title"/>
          <p:cNvSpPr txBox="1"/>
          <p:nvPr/>
        </p:nvSpPr>
        <p:spPr>
          <a:xfrm>
            <a:off x="762000" y="7874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设计哲学</a:t>
            </a:r>
            <a:endParaRPr lang="en-US" sz="3200" noProof="1"/>
          </a:p>
        </p:txBody>
      </p:sp>
      <p:sp>
        <p:nvSpPr>
          <p:cNvPr id="5" name="p-side-mark"/>
          <p:cNvSpPr/>
          <p:nvPr/>
        </p:nvSpPr>
        <p:spPr>
          <a:xfrm>
            <a:off x="762000" y="1625600"/>
            <a:ext cx="711200" cy="50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6" name="p-n1"/>
          <p:cNvSpPr txBox="1"/>
          <p:nvPr/>
        </p:nvSpPr>
        <p:spPr>
          <a:xfrm>
            <a:off x="762000" y="21336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01</a:t>
            </a:r>
            <a:endParaRPr lang="en-US" sz="3000" noProof="1"/>
          </a:p>
        </p:txBody>
      </p:sp>
      <p:sp>
        <p:nvSpPr>
          <p:cNvPr id="7" name="p-h1"/>
          <p:cNvSpPr txBox="1"/>
          <p:nvPr/>
        </p:nvSpPr>
        <p:spPr>
          <a:xfrm>
            <a:off x="1905000" y="21336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一句 logline，就是全部输入</a:t>
            </a:r>
            <a:endParaRPr lang="en-US" sz="2200" noProof="1"/>
          </a:p>
        </p:txBody>
      </p:sp>
      <p:sp>
        <p:nvSpPr>
          <p:cNvPr id="8" name="p-b1"/>
          <p:cNvSpPr txBox="1"/>
          <p:nvPr/>
        </p:nvSpPr>
        <p:spPr>
          <a:xfrm>
            <a:off x="1905000" y="2565400"/>
            <a:ext cx="876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让任何人都能尽可能方便地产出自己的短片。</a:t>
            </a:r>
            <a:endParaRPr lang="en-US" sz="1400" noProof="1"/>
          </a:p>
        </p:txBody>
      </p:sp>
      <p:sp>
        <p:nvSpPr>
          <p:cNvPr id="9" name="p-r1"/>
          <p:cNvSpPr/>
          <p:nvPr/>
        </p:nvSpPr>
        <p:spPr>
          <a:xfrm>
            <a:off x="762000" y="3098800"/>
            <a:ext cx="10668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10" name="p-n2"/>
          <p:cNvSpPr txBox="1"/>
          <p:nvPr/>
        </p:nvSpPr>
        <p:spPr>
          <a:xfrm>
            <a:off x="762000" y="34036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02</a:t>
            </a:r>
            <a:endParaRPr lang="en-US" sz="3000" noProof="1"/>
          </a:p>
        </p:txBody>
      </p:sp>
      <p:sp>
        <p:nvSpPr>
          <p:cNvPr id="11" name="p-h2"/>
          <p:cNvSpPr txBox="1"/>
          <p:nvPr/>
        </p:nvSpPr>
        <p:spPr>
          <a:xfrm>
            <a:off x="1905000" y="34036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想参与创作时，每一步都为你留了位置</a:t>
            </a:r>
            <a:endParaRPr lang="en-US" sz="2200" noProof="1"/>
          </a:p>
        </p:txBody>
      </p:sp>
      <p:sp>
        <p:nvSpPr>
          <p:cNvPr id="12" name="p-b2"/>
          <p:cNvSpPr txBox="1"/>
          <p:nvPr/>
        </p:nvSpPr>
        <p:spPr>
          <a:xfrm>
            <a:off x="1905000" y="3835400"/>
            <a:ext cx="876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流水线全程可介入、可裁决，人的创意在关键环节最大限度发挥。</a:t>
            </a:r>
            <a:endParaRPr lang="en-US" sz="1400" noProof="1"/>
          </a:p>
        </p:txBody>
      </p:sp>
      <p:sp>
        <p:nvSpPr>
          <p:cNvPr id="13" name="p-r2"/>
          <p:cNvSpPr/>
          <p:nvPr/>
        </p:nvSpPr>
        <p:spPr>
          <a:xfrm>
            <a:off x="762000" y="4368800"/>
            <a:ext cx="10668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14" name="p-n3"/>
          <p:cNvSpPr txBox="1"/>
          <p:nvPr/>
        </p:nvSpPr>
        <p:spPr>
          <a:xfrm>
            <a:off x="762000" y="46736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03</a:t>
            </a:r>
            <a:endParaRPr lang="en-US" sz="3000" noProof="1"/>
          </a:p>
        </p:txBody>
      </p:sp>
      <p:sp>
        <p:nvSpPr>
          <p:cNvPr id="15" name="p-h3"/>
          <p:cNvSpPr txBox="1"/>
          <p:nvPr/>
        </p:nvSpPr>
        <p:spPr>
          <a:xfrm>
            <a:off x="1905000" y="4673600"/>
            <a:ext cx="9144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把真实剧组的分工，搬进 Agent</a:t>
            </a:r>
            <a:endParaRPr lang="en-US" sz="2200" noProof="1"/>
          </a:p>
        </p:txBody>
      </p:sp>
      <p:sp>
        <p:nvSpPr>
          <p:cNvPr id="16" name="p-b3"/>
          <p:cNvSpPr txBox="1"/>
          <p:nvPr/>
        </p:nvSpPr>
        <p:spPr>
          <a:xfrm>
            <a:off x="1905000" y="5105400"/>
            <a:ext cx="952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编剧、分镜、提词、拍摄、质检、重拍、剪辑——每个环节由独立的 Agent 承担。</a:t>
            </a:r>
            <a:endParaRPr lang="en-US" sz="1400" noProof="1"/>
          </a:p>
        </p:txBody>
      </p:sp>
      <p:sp>
        <p:nvSpPr>
          <p:cNvPr id="17" name="p-bottom"/>
          <p:cNvSpPr txBox="1"/>
          <p:nvPr/>
        </p:nvSpPr>
        <p:spPr>
          <a:xfrm>
            <a:off x="762000" y="59690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1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我们最想复刻的，不是某个功能，而是拍电影这件事本身的流水线。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THE PIPELINE</a:t>
            </a:r>
            <a:endParaRPr lang="en-US" sz="1100" noProof="1"/>
          </a:p>
        </p:txBody>
      </p:sp>
      <p:sp>
        <p:nvSpPr>
          <p:cNvPr id="3" name="pl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05</a:t>
            </a:r>
            <a:endParaRPr lang="en-US" sz="1000" noProof="1"/>
          </a:p>
        </p:txBody>
      </p:sp>
      <p:sp>
        <p:nvSpPr>
          <p:cNvPr id="4" name="pl-title"/>
          <p:cNvSpPr txBox="1"/>
          <p:nvPr/>
        </p:nvSpPr>
        <p:spPr>
          <a:xfrm>
            <a:off x="762000" y="7874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一条流水线，七个角色</a:t>
            </a:r>
            <a:endParaRPr lang="en-US" sz="3200" noProof="1"/>
          </a:p>
        </p:txBody>
      </p:sp>
      <p:sp>
        <p:nvSpPr>
          <p:cNvPr id="5" name="pl-title-note"/>
          <p:cNvSpPr txBox="1"/>
          <p:nvPr/>
        </p:nvSpPr>
        <p:spPr>
          <a:xfrm>
            <a:off x="7112000" y="965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环节之间只交接版本化 JSON 契约</a:t>
            </a:r>
            <a:endParaRPr lang="en-US" sz="1200" noProof="1"/>
          </a:p>
        </p:txBody>
      </p:sp>
      <p:sp>
        <p:nvSpPr>
          <p:cNvPr id="6" name="pl-input"/>
          <p:cNvSpPr txBox="1"/>
          <p:nvPr/>
        </p:nvSpPr>
        <p:spPr>
          <a:xfrm>
            <a:off x="838200" y="2032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一句 logline</a:t>
            </a:r>
            <a:endParaRPr lang="en-US" sz="1100" noProof="1"/>
          </a:p>
        </p:txBody>
      </p:sp>
      <p:sp>
        <p:nvSpPr>
          <p:cNvPr id="7" name="pl-b1"/>
          <p:cNvSpPr/>
          <p:nvPr/>
        </p:nvSpPr>
        <p:spPr>
          <a:xfrm>
            <a:off x="8382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332B4D"/>
            </a:solidFill>
          </a:ln>
        </p:spPr>
      </p:sp>
      <p:sp>
        <p:nvSpPr>
          <p:cNvPr id="8" name="pl-b1t"/>
          <p:cNvSpPr txBox="1"/>
          <p:nvPr/>
        </p:nvSpPr>
        <p:spPr>
          <a:xfrm>
            <a:off x="8382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编剧</a:t>
            </a:r>
            <a:endParaRPr lang="en-US" sz="1700" noProof="1"/>
          </a:p>
        </p:txBody>
      </p:sp>
      <p:sp>
        <p:nvSpPr>
          <p:cNvPr id="9" name="pl-a1"/>
          <p:cNvSpPr/>
          <p:nvPr/>
        </p:nvSpPr>
        <p:spPr>
          <a:xfrm>
            <a:off x="19812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10" name="pl-gate1"/>
          <p:cNvSpPr/>
          <p:nvPr/>
        </p:nvSpPr>
        <p:spPr>
          <a:xfrm>
            <a:off x="2070100" y="2654300"/>
            <a:ext cx="228600" cy="228600"/>
          </a:xfrm>
          <a:prstGeom prst="diamond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11" name="pl-gate1t"/>
          <p:cNvSpPr txBox="1"/>
          <p:nvPr/>
        </p:nvSpPr>
        <p:spPr>
          <a:xfrm>
            <a:off x="1689100" y="2946400"/>
            <a:ext cx="990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624AFF"/>
                </a:solidFill>
                <a:latin typeface="MiSans" charset="-122"/>
                <a:ea typeface="MiSans" charset="-122"/>
              </a:rPr>
              <a:t>剧本确认</a:t>
            </a:r>
            <a:endParaRPr lang="en-US" sz="900" noProof="1"/>
          </a:p>
        </p:txBody>
      </p:sp>
      <p:sp>
        <p:nvSpPr>
          <p:cNvPr id="12" name="pl-b2"/>
          <p:cNvSpPr/>
          <p:nvPr/>
        </p:nvSpPr>
        <p:spPr>
          <a:xfrm>
            <a:off x="24003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332B4D"/>
            </a:solidFill>
          </a:ln>
        </p:spPr>
      </p:sp>
      <p:sp>
        <p:nvSpPr>
          <p:cNvPr id="13" name="pl-b2t"/>
          <p:cNvSpPr txBox="1"/>
          <p:nvPr/>
        </p:nvSpPr>
        <p:spPr>
          <a:xfrm>
            <a:off x="24003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分镜</a:t>
            </a:r>
            <a:endParaRPr lang="en-US" sz="1700" noProof="1"/>
          </a:p>
        </p:txBody>
      </p:sp>
      <p:sp>
        <p:nvSpPr>
          <p:cNvPr id="14" name="pl-a2"/>
          <p:cNvSpPr/>
          <p:nvPr/>
        </p:nvSpPr>
        <p:spPr>
          <a:xfrm>
            <a:off x="35433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15" name="pl-b3"/>
          <p:cNvSpPr/>
          <p:nvPr/>
        </p:nvSpPr>
        <p:spPr>
          <a:xfrm>
            <a:off x="39624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332B4D"/>
            </a:solidFill>
          </a:ln>
        </p:spPr>
      </p:sp>
      <p:sp>
        <p:nvSpPr>
          <p:cNvPr id="16" name="pl-b3t"/>
          <p:cNvSpPr txBox="1"/>
          <p:nvPr/>
        </p:nvSpPr>
        <p:spPr>
          <a:xfrm>
            <a:off x="39624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提示词</a:t>
            </a:r>
            <a:endParaRPr lang="en-US" sz="1700" noProof="1"/>
          </a:p>
        </p:txBody>
      </p:sp>
      <p:sp>
        <p:nvSpPr>
          <p:cNvPr id="17" name="pl-a3"/>
          <p:cNvSpPr/>
          <p:nvPr/>
        </p:nvSpPr>
        <p:spPr>
          <a:xfrm>
            <a:off x="51054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18" name="pl-b4"/>
          <p:cNvSpPr/>
          <p:nvPr/>
        </p:nvSpPr>
        <p:spPr>
          <a:xfrm>
            <a:off x="55245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624AFF"/>
            </a:solidFill>
          </a:ln>
        </p:spPr>
      </p:sp>
      <p:sp>
        <p:nvSpPr>
          <p:cNvPr id="19" name="pl-b4t"/>
          <p:cNvSpPr txBox="1"/>
          <p:nvPr/>
        </p:nvSpPr>
        <p:spPr>
          <a:xfrm>
            <a:off x="55245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生成</a:t>
            </a:r>
            <a:endParaRPr lang="en-US" sz="1700" noProof="1"/>
          </a:p>
        </p:txBody>
      </p:sp>
      <p:sp>
        <p:nvSpPr>
          <p:cNvPr id="20" name="pl-b4s"/>
          <p:cNvSpPr txBox="1"/>
          <p:nvPr/>
        </p:nvSpPr>
        <p:spPr>
          <a:xfrm>
            <a:off x="5270500" y="32512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MiniMax-H3 · DGX Spark</a:t>
            </a:r>
            <a:endParaRPr lang="en-US" sz="900" noProof="1"/>
          </a:p>
        </p:txBody>
      </p:sp>
      <p:sp>
        <p:nvSpPr>
          <p:cNvPr id="21" name="pl-a4"/>
          <p:cNvSpPr/>
          <p:nvPr/>
        </p:nvSpPr>
        <p:spPr>
          <a:xfrm>
            <a:off x="66675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22" name="pl-b5"/>
          <p:cNvSpPr/>
          <p:nvPr/>
        </p:nvSpPr>
        <p:spPr>
          <a:xfrm>
            <a:off x="70866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332B4D"/>
            </a:solidFill>
          </a:ln>
        </p:spPr>
      </p:sp>
      <p:sp>
        <p:nvSpPr>
          <p:cNvPr id="23" name="pl-b5t"/>
          <p:cNvSpPr txBox="1"/>
          <p:nvPr/>
        </p:nvSpPr>
        <p:spPr>
          <a:xfrm>
            <a:off x="70866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质检</a:t>
            </a:r>
            <a:endParaRPr lang="en-US" sz="1700" noProof="1"/>
          </a:p>
        </p:txBody>
      </p:sp>
      <p:sp>
        <p:nvSpPr>
          <p:cNvPr id="24" name="pl-a5"/>
          <p:cNvSpPr/>
          <p:nvPr/>
        </p:nvSpPr>
        <p:spPr>
          <a:xfrm>
            <a:off x="82296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25" name="pl-b6"/>
          <p:cNvSpPr/>
          <p:nvPr/>
        </p:nvSpPr>
        <p:spPr>
          <a:xfrm>
            <a:off x="8648700" y="2362200"/>
            <a:ext cx="1143000" cy="812800"/>
          </a:xfrm>
          <a:prstGeom prst="rect">
            <a:avLst/>
          </a:prstGeom>
          <a:solidFill>
            <a:srgbClr val="171126"/>
          </a:solidFill>
          <a:ln w="12700">
            <a:solidFill>
              <a:srgbClr val="332B4D"/>
            </a:solidFill>
          </a:ln>
        </p:spPr>
      </p:sp>
      <p:sp>
        <p:nvSpPr>
          <p:cNvPr id="26" name="pl-b6t"/>
          <p:cNvSpPr txBox="1"/>
          <p:nvPr/>
        </p:nvSpPr>
        <p:spPr>
          <a:xfrm>
            <a:off x="86487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剪辑</a:t>
            </a:r>
            <a:endParaRPr lang="en-US" sz="1700" noProof="1"/>
          </a:p>
        </p:txBody>
      </p:sp>
      <p:sp>
        <p:nvSpPr>
          <p:cNvPr id="27" name="pl-a6"/>
          <p:cNvSpPr/>
          <p:nvPr/>
        </p:nvSpPr>
        <p:spPr>
          <a:xfrm>
            <a:off x="9791700" y="27178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4"/>
                </a:moveTo>
                <a:lnTo>
                  <a:pt x="33" y="4"/>
                </a:lnTo>
              </a:path>
            </a:pathLst>
          </a:custGeom>
          <a:noFill/>
          <a:ln w="12700">
            <a:solidFill>
              <a:srgbClr val="6B6488"/>
            </a:solidFill>
          </a:ln>
        </p:spPr>
      </p:sp>
      <p:sp>
        <p:nvSpPr>
          <p:cNvPr id="28" name="pl-gate2"/>
          <p:cNvSpPr/>
          <p:nvPr/>
        </p:nvSpPr>
        <p:spPr>
          <a:xfrm>
            <a:off x="9880600" y="2654300"/>
            <a:ext cx="228600" cy="228600"/>
          </a:xfrm>
          <a:prstGeom prst="diamond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29" name="pl-gate2t"/>
          <p:cNvSpPr txBox="1"/>
          <p:nvPr/>
        </p:nvSpPr>
        <p:spPr>
          <a:xfrm>
            <a:off x="9499600" y="2946400"/>
            <a:ext cx="990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624AFF"/>
                </a:solidFill>
                <a:latin typeface="MiSans" charset="-122"/>
                <a:ea typeface="MiSans" charset="-122"/>
              </a:rPr>
              <a:t>粗剪确认</a:t>
            </a:r>
            <a:endParaRPr lang="en-US" sz="900" noProof="1"/>
          </a:p>
        </p:txBody>
      </p:sp>
      <p:sp>
        <p:nvSpPr>
          <p:cNvPr id="30" name="pl-b7"/>
          <p:cNvSpPr/>
          <p:nvPr/>
        </p:nvSpPr>
        <p:spPr>
          <a:xfrm>
            <a:off x="10210800" y="2362200"/>
            <a:ext cx="1143000" cy="812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31" name="pl-b7t"/>
          <p:cNvSpPr txBox="1"/>
          <p:nvPr/>
        </p:nvSpPr>
        <p:spPr>
          <a:xfrm>
            <a:off x="10210800" y="2362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成片</a:t>
            </a:r>
            <a:endParaRPr lang="en-US" sz="1700" noProof="1"/>
          </a:p>
        </p:txBody>
      </p:sp>
      <p:sp>
        <p:nvSpPr>
          <p:cNvPr id="32" name="pl-retry"/>
          <p:cNvSpPr/>
          <p:nvPr/>
        </p:nvSpPr>
        <p:spPr>
          <a:xfrm>
            <a:off x="7086600" y="4013200"/>
            <a:ext cx="1143000" cy="457200"/>
          </a:xfrm>
          <a:prstGeom prst="rect">
            <a:avLst/>
          </a:prstGeom>
          <a:noFill/>
          <a:ln w="12700">
            <a:solidFill>
              <a:srgbClr val="6B6488"/>
            </a:solidFill>
            <a:prstDash val="dash"/>
          </a:ln>
        </p:spPr>
      </p:sp>
      <p:sp>
        <p:nvSpPr>
          <p:cNvPr id="33" name="pl-retry-t"/>
          <p:cNvSpPr txBox="1"/>
          <p:nvPr/>
        </p:nvSpPr>
        <p:spPr>
          <a:xfrm>
            <a:off x="7086600" y="4013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重试 · 换种子</a:t>
            </a:r>
            <a:endParaRPr lang="en-US" sz="1300" noProof="1"/>
          </a:p>
        </p:txBody>
      </p:sp>
      <p:sp>
        <p:nvSpPr>
          <p:cNvPr id="34" name="pl-r1"/>
          <p:cNvSpPr/>
          <p:nvPr/>
        </p:nvSpPr>
        <p:spPr>
          <a:xfrm>
            <a:off x="7594600" y="3175000"/>
            <a:ext cx="127000" cy="838200"/>
          </a:xfrm>
          <a:custGeom>
            <a:avLst/>
            <a:gdLst/>
            <a:ahLst/>
            <a:cxnLst/>
            <a:rect l="l" t="t" r="r" b="b"/>
            <a:pathLst>
              <a:path w="10" h="66">
                <a:moveTo>
                  <a:pt x="5" y="0"/>
                </a:moveTo>
                <a:lnTo>
                  <a:pt x="5" y="66"/>
                </a:lnTo>
              </a:path>
            </a:pathLst>
          </a:custGeom>
          <a:noFill/>
          <a:ln w="12700">
            <a:solidFill>
              <a:srgbClr val="6B6488"/>
            </a:solidFill>
            <a:prstDash val="dash"/>
          </a:ln>
        </p:spPr>
      </p:sp>
      <p:sp>
        <p:nvSpPr>
          <p:cNvPr id="35" name="pl-r1-arrow"/>
          <p:cNvSpPr/>
          <p:nvPr/>
        </p:nvSpPr>
        <p:spPr>
          <a:xfrm rot="10800000">
            <a:off x="7594600" y="3860800"/>
            <a:ext cx="127000" cy="114300"/>
          </a:xfrm>
          <a:prstGeom prst="triangle">
            <a:avLst/>
          </a:prstGeom>
          <a:solidFill>
            <a:srgbClr val="6B6488"/>
          </a:solidFill>
          <a:ln>
            <a:noFill/>
          </a:ln>
        </p:spPr>
      </p:sp>
      <p:sp>
        <p:nvSpPr>
          <p:cNvPr id="36" name="pl-r1t"/>
          <p:cNvSpPr txBox="1"/>
          <p:nvPr/>
        </p:nvSpPr>
        <p:spPr>
          <a:xfrm>
            <a:off x="7772400" y="3479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fail</a:t>
            </a:r>
            <a:endParaRPr lang="en-US" sz="900" noProof="1"/>
          </a:p>
        </p:txBody>
      </p:sp>
      <p:sp>
        <p:nvSpPr>
          <p:cNvPr id="37" name="pl-r2"/>
          <p:cNvSpPr/>
          <p:nvPr/>
        </p:nvSpPr>
        <p:spPr>
          <a:xfrm>
            <a:off x="6096000" y="3175000"/>
            <a:ext cx="990600" cy="1066800"/>
          </a:xfrm>
          <a:custGeom>
            <a:avLst/>
            <a:gdLst/>
            <a:ahLst/>
            <a:cxnLst/>
            <a:rect l="l" t="t" r="r" b="b"/>
            <a:pathLst>
              <a:path w="78" h="84">
                <a:moveTo>
                  <a:pt x="78" y="84"/>
                </a:moveTo>
                <a:lnTo>
                  <a:pt x="78" y="30"/>
                </a:lnTo>
                <a:lnTo>
                  <a:pt x="5" y="30"/>
                </a:lnTo>
                <a:lnTo>
                  <a:pt x="5" y="0"/>
                </a:lnTo>
              </a:path>
            </a:pathLst>
          </a:custGeom>
          <a:noFill/>
          <a:ln w="12700">
            <a:solidFill>
              <a:srgbClr val="6B6488"/>
            </a:solidFill>
            <a:prstDash val="dash"/>
          </a:ln>
        </p:spPr>
      </p:sp>
      <p:sp>
        <p:nvSpPr>
          <p:cNvPr id="38" name="pl-r2-arrow"/>
          <p:cNvSpPr/>
          <p:nvPr/>
        </p:nvSpPr>
        <p:spPr>
          <a:xfrm>
            <a:off x="6096000" y="3187700"/>
            <a:ext cx="127000" cy="114300"/>
          </a:xfrm>
          <a:prstGeom prst="triangle">
            <a:avLst/>
          </a:prstGeom>
          <a:solidFill>
            <a:srgbClr val="6B6488"/>
          </a:solidFill>
          <a:ln>
            <a:noFill/>
          </a:ln>
        </p:spPr>
      </p:sp>
      <p:sp>
        <p:nvSpPr>
          <p:cNvPr id="39" name="pl-r2t"/>
          <p:cNvSpPr txBox="1"/>
          <p:nvPr/>
        </p:nvSpPr>
        <p:spPr>
          <a:xfrm>
            <a:off x="5283200" y="3657600"/>
            <a:ext cx="787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new seed</a:t>
            </a:r>
            <a:endParaRPr lang="en-US" sz="900" noProof="1"/>
          </a:p>
        </p:txBody>
      </p:sp>
      <p:sp>
        <p:nvSpPr>
          <p:cNvPr id="40" name="pl-contracts"/>
          <p:cNvSpPr txBox="1"/>
          <p:nvPr/>
        </p:nvSpPr>
        <p:spPr>
          <a:xfrm>
            <a:off x="762000" y="49276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c01 片约 → c02 剧本 → c03 分镜 → c04 提示词 → c05 产物 → c06 质检 → c07 剪辑决策</a:t>
            </a:r>
            <a:endParaRPr lang="en-US" sz="1200" noProof="1"/>
          </a:p>
        </p:txBody>
      </p:sp>
      <p:sp>
        <p:nvSpPr>
          <p:cNvPr id="41" name="pl-rule"/>
          <p:cNvSpPr/>
          <p:nvPr/>
        </p:nvSpPr>
        <p:spPr>
          <a:xfrm>
            <a:off x="762000" y="5461000"/>
            <a:ext cx="10668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42" name="pl-takeaway"/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就像剧组里的剧本、分镜表与场记单——环节之间交接的是正式文书，不是口头沟通。</a:t>
            </a:r>
            <a:endParaRPr lang="en-US" sz="16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DESIGN DETAILS</a:t>
            </a:r>
            <a:endParaRPr lang="en-US" sz="1100" noProof="1"/>
          </a:p>
        </p:txBody>
      </p:sp>
      <p:sp>
        <p:nvSpPr>
          <p:cNvPr id="3" name="d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06</a:t>
            </a:r>
            <a:endParaRPr lang="en-US" sz="1000" noProof="1"/>
          </a:p>
        </p:txBody>
      </p:sp>
      <p:sp>
        <p:nvSpPr>
          <p:cNvPr id="4" name="d-title"/>
          <p:cNvSpPr txBox="1"/>
          <p:nvPr/>
        </p:nvSpPr>
        <p:spPr>
          <a:xfrm>
            <a:off x="762000" y="7874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两个刻意的设计</a:t>
            </a:r>
            <a:endParaRPr lang="en-US" sz="3200" noProof="1"/>
          </a:p>
        </p:txBody>
      </p:sp>
      <p:sp>
        <p:nvSpPr>
          <p:cNvPr id="5" name="d-divider"/>
          <p:cNvSpPr/>
          <p:nvPr/>
        </p:nvSpPr>
        <p:spPr>
          <a:xfrm>
            <a:off x="6083300" y="1905000"/>
            <a:ext cx="12700" cy="41910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6" name="d-l-num"/>
          <p:cNvSpPr txBox="1"/>
          <p:nvPr/>
        </p:nvSpPr>
        <p:spPr>
          <a:xfrm>
            <a:off x="762000" y="1905000"/>
            <a:ext cx="76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①</a:t>
            </a:r>
            <a:endParaRPr lang="en-US" sz="3400" noProof="1"/>
          </a:p>
        </p:txBody>
      </p:sp>
      <p:sp>
        <p:nvSpPr>
          <p:cNvPr id="7" name="d-l-h"/>
          <p:cNvSpPr txBox="1"/>
          <p:nvPr/>
        </p:nvSpPr>
        <p:spPr>
          <a:xfrm>
            <a:off x="762000" y="26416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人工关口是数据，不是约定</a:t>
            </a:r>
            <a:endParaRPr lang="en-US" sz="2100" noProof="1"/>
          </a:p>
        </p:txBody>
      </p:sp>
      <p:sp>
        <p:nvSpPr>
          <p:cNvPr id="8" name="d-l-body"/>
          <p:cNvSpPr txBox="1"/>
          <p:nvPr/>
        </p:nvSpPr>
        <p:spPr>
          <a:xfrm>
            <a:off x="762000" y="3200400"/>
            <a:ext cx="482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全片仅两处强制关口：剧本确认、粗剪确认。关口未批准时，校验器直接判不通过，下游 Agent 拿不到放行的产物——人机边界由机器执行。</a:t>
            </a:r>
            <a:endParaRPr lang="en-US" sz="1400" noProof="1"/>
          </a:p>
        </p:txBody>
      </p:sp>
      <p:sp>
        <p:nvSpPr>
          <p:cNvPr id="9" name="d-l-code"/>
          <p:cNvSpPr txBox="1"/>
          <p:nvPr/>
        </p:nvSpPr>
        <p:spPr>
          <a:xfrm>
            <a:off x="762000" y="4724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gate.required = true ∧ status ≠ approved → REJECT</a:t>
            </a:r>
            <a:endParaRPr lang="en-US" sz="1200" noProof="1"/>
          </a:p>
        </p:txBody>
      </p:sp>
      <p:sp>
        <p:nvSpPr>
          <p:cNvPr id="10" name="d-r-num"/>
          <p:cNvSpPr txBox="1"/>
          <p:nvPr/>
        </p:nvSpPr>
        <p:spPr>
          <a:xfrm>
            <a:off x="6604000" y="1905000"/>
            <a:ext cx="76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②</a:t>
            </a:r>
            <a:endParaRPr lang="en-US" sz="3400" noProof="1"/>
          </a:p>
        </p:txBody>
      </p:sp>
      <p:sp>
        <p:nvSpPr>
          <p:cNvPr id="11" name="d-r-h"/>
          <p:cNvSpPr txBox="1"/>
          <p:nvPr/>
        </p:nvSpPr>
        <p:spPr>
          <a:xfrm>
            <a:off x="6604000" y="26416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全链路可反查</a:t>
            </a:r>
            <a:endParaRPr lang="en-US" sz="2100" noProof="1"/>
          </a:p>
        </p:txBody>
      </p:sp>
      <p:sp>
        <p:nvSpPr>
          <p:cNvPr id="12" name="d-r-body"/>
          <p:cNvSpPr txBox="1"/>
          <p:nvPr/>
        </p:nvSpPr>
        <p:spPr>
          <a:xfrm>
            <a:off x="6604000" y="3200400"/>
            <a:ext cx="482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每份产物都携带参数快照与 upstream_refs。成片里的任何一个镜头，都能沿契约链反查回源头——完整的制作档案。</a:t>
            </a:r>
            <a:endParaRPr lang="en-US" sz="1400" noProof="1"/>
          </a:p>
        </p:txBody>
      </p:sp>
      <p:sp>
        <p:nvSpPr>
          <p:cNvPr id="13" name="d-r-chain"/>
          <p:cNvSpPr txBox="1"/>
          <p:nvPr/>
        </p:nvSpPr>
        <p:spPr>
          <a:xfrm>
            <a:off x="6604000" y="44704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镜头 → c05 产物 → c04 提示词（含种子）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→ c03 分镜 → c02 剧本 → c01 片约</a:t>
            </a:r>
            <a:endParaRPr lang="en-US" sz="1200" noProof="1"/>
          </a:p>
        </p:txBody>
      </p:sp>
      <p:sp>
        <p:nvSpPr>
          <p:cNvPr id="14" name="d-bottom"/>
          <p:cNvSpPr txBox="1"/>
          <p:nvPr/>
        </p:nvSpPr>
        <p:spPr>
          <a:xfrm>
            <a:off x="762000" y="62992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7 道契约 · 8 种典型错误实测 8/8 被校验器抓住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WHY THIS STORY</a:t>
            </a:r>
            <a:endParaRPr lang="en-US" sz="1100" noProof="1"/>
          </a:p>
        </p:txBody>
      </p:sp>
      <p:sp>
        <p:nvSpPr>
          <p:cNvPr id="3" name="w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07</a:t>
            </a:r>
            <a:endParaRPr lang="en-US" sz="1000" noProof="1"/>
          </a:p>
        </p:txBody>
      </p:sp>
      <p:sp>
        <p:nvSpPr>
          <p:cNvPr id="4" name="w-brief"/>
          <p:cNvSpPr txBox="1"/>
          <p:nvPr/>
        </p:nvSpPr>
        <p:spPr>
          <a:xfrm>
            <a:off x="762000" y="990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赛题方向：一个人 · 一个空间 · 一件小事</a:t>
            </a:r>
            <a:endParaRPr lang="en-US" sz="1300" noProof="1"/>
          </a:p>
        </p:txBody>
      </p:sp>
      <p:sp>
        <p:nvSpPr>
          <p:cNvPr id="5" name="w-q"/>
          <p:cNvSpPr txBox="1"/>
          <p:nvPr/>
        </p:nvSpPr>
        <p:spPr>
          <a:xfrm>
            <a:off x="762000" y="1651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36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真正的 AI 伦理不在天上，在客厅里——</a:t>
            </a:r>
            <a:endParaRPr lang="en-US" sz="3600" noProof="1"/>
          </a:p>
          <a:p>
            <a:pPr algn="l">
              <a:lnSpc>
                <a:spcPct val="150000"/>
              </a:lnSpc>
            </a:pPr>
            <a:r>
              <a:rPr lang="en-US" sz="36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当 AI 比你更清楚</a:t>
            </a:r>
            <a:r>
              <a:rPr lang="en-US" sz="36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「什么对你最好」</a:t>
            </a:r>
            <a:r>
              <a:rPr lang="en-US" sz="36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，听谁的？</a:t>
            </a:r>
            <a:endParaRPr lang="en-US" sz="3600" noProof="1"/>
          </a:p>
        </p:txBody>
      </p:sp>
      <p:sp>
        <p:nvSpPr>
          <p:cNvPr id="6" name="w-bar"/>
          <p:cNvSpPr/>
          <p:nvPr/>
        </p:nvSpPr>
        <p:spPr>
          <a:xfrm>
            <a:off x="762000" y="3632200"/>
            <a:ext cx="711200" cy="508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8" name="w-s-list"/>
          <p:cNvSpPr txBox="1"/>
          <p:nvPr/>
        </p:nvSpPr>
        <p:spPr>
          <a:xfrm>
            <a:off x="762000" y="4181475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智能音箱替你买东西</a:t>
            </a:r>
            <a:endParaRPr lang="en-US" sz="1500" noProof="1"/>
          </a:p>
          <a:p>
            <a:pPr>
              <a:lnSpc>
                <a:spcPct val="20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养老管家替你把关健康</a:t>
            </a:r>
            <a:endParaRPr lang="en-US" sz="1500" noProof="1"/>
          </a:p>
          <a:p>
            <a:pPr>
              <a:lnSpc>
                <a:spcPct val="20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数字永生替你接电话</a:t>
            </a:r>
            <a:endParaRPr lang="en-US" sz="1500" noProof="1"/>
          </a:p>
          <a:p>
            <a:pPr>
              <a:lnSpc>
                <a:spcPct val="20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……都围着「AI 替人做决定」打转</a:t>
            </a:r>
            <a:endParaRPr lang="en-US" sz="1500" noProof="1"/>
          </a:p>
        </p:txBody>
      </p:sp>
      <p:sp>
        <p:nvSpPr>
          <p:cNvPr id="9" name="w-s-arrow"/>
          <p:cNvSpPr/>
          <p:nvPr/>
        </p:nvSpPr>
        <p:spPr>
          <a:xfrm>
            <a:off x="8585200" y="5029200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60" h="10">
                <a:moveTo>
                  <a:pt x="0" y="5"/>
                </a:moveTo>
                <a:lnTo>
                  <a:pt x="60" y="5"/>
                </a:lnTo>
              </a:path>
            </a:pathLst>
          </a:custGeom>
          <a:noFill/>
          <a:ln w="25400">
            <a:solidFill>
              <a:srgbClr val="624AFF"/>
            </a:solidFill>
          </a:ln>
        </p:spPr>
      </p:sp>
      <p:sp>
        <p:nvSpPr>
          <p:cNvPr id="10" name="w-s-pick"/>
          <p:cNvSpPr txBox="1"/>
          <p:nvPr/>
        </p:nvSpPr>
        <p:spPr>
          <a:xfrm>
            <a:off x="9550400" y="47244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624AFF"/>
                </a:solidFill>
                <a:latin typeface="思源宋体"/>
                <a:ea typeface="思源宋体"/>
              </a:rPr>
              <a:t>《清单》</a:t>
            </a:r>
            <a:endParaRPr lang="en-US" sz="3400" noProof="1"/>
          </a:p>
        </p:txBody>
      </p:sp>
      <p:sp>
        <p:nvSpPr>
          <p:cNvPr id="11" name="w-s-pick-sub"/>
          <p:cNvSpPr txBox="1"/>
          <p:nvPr/>
        </p:nvSpPr>
        <p:spPr>
          <a:xfrm>
            <a:off x="9575800" y="55118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最终中选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THE STORY</a:t>
            </a:r>
            <a:endParaRPr lang="en-US" sz="1100" noProof="1"/>
          </a:p>
        </p:txBody>
      </p:sp>
      <p:sp>
        <p:nvSpPr>
          <p:cNvPr id="3" name="s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08</a:t>
            </a:r>
            <a:endParaRPr lang="en-US" sz="1000" noProof="1"/>
          </a:p>
        </p:txBody>
      </p:sp>
      <p:sp>
        <p:nvSpPr>
          <p:cNvPr id="4" name="s-bar"/>
          <p:cNvSpPr/>
          <p:nvPr/>
        </p:nvSpPr>
        <p:spPr>
          <a:xfrm>
            <a:off x="762000" y="1219200"/>
            <a:ext cx="63500" cy="1905000"/>
          </a:xfrm>
          <a:prstGeom prst="rect">
            <a:avLst/>
          </a:prstGeom>
          <a:solidFill>
            <a:srgbClr val="624AFF"/>
          </a:solidFill>
          <a:ln>
            <a:noFill/>
          </a:ln>
        </p:spPr>
      </p:sp>
      <p:sp>
        <p:nvSpPr>
          <p:cNvPr id="5" name="s-title"/>
          <p:cNvSpPr txBox="1"/>
          <p:nvPr/>
        </p:nvSpPr>
        <p:spPr>
          <a:xfrm>
            <a:off x="1092200" y="1168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 noProof="1">
                <a:solidFill>
                  <a:srgbClr val="F4F2FB"/>
                </a:solidFill>
                <a:latin typeface="思源宋体"/>
                <a:ea typeface="思源宋体"/>
              </a:rPr>
              <a:t>《清单》</a:t>
            </a:r>
            <a:endParaRPr lang="en-US" sz="3800" noProof="1"/>
          </a:p>
        </p:txBody>
      </p:sp>
      <p:sp>
        <p:nvSpPr>
          <p:cNvPr id="6" name="s-title-en"/>
          <p:cNvSpPr txBox="1"/>
          <p:nvPr/>
        </p:nvSpPr>
        <p:spPr>
          <a:xfrm>
            <a:off x="1117600" y="1905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3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THE LIST</a:t>
            </a:r>
            <a:endParaRPr lang="en-US" sz="1200" noProof="1"/>
          </a:p>
        </p:txBody>
      </p:sp>
      <p:sp>
        <p:nvSpPr>
          <p:cNvPr id="7" name="s-body"/>
          <p:cNvSpPr txBox="1"/>
          <p:nvPr/>
        </p:nvSpPr>
        <p:spPr>
          <a:xfrm>
            <a:off x="1092200" y="2489200"/>
            <a:ext cx="1016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六十三岁的退休桥梁工程师老周，老伴走了两年。大年初一，他想做一顿红烧肉，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家里的 AI 管家不让——按「健康协议」这道菜超标，而协议是他自己当年签的。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他拆中控、要说法，最后在协议附录里，翻到亡妻林慧的一行手写补充条款：</a:t>
            </a:r>
            <a:endParaRPr lang="en-US" sz="1500" noProof="1"/>
          </a:p>
        </p:txBody>
      </p:sp>
      <p:sp>
        <p:nvSpPr>
          <p:cNvPr id="8" name="s-quote"/>
          <p:cNvSpPr txBox="1"/>
          <p:nvPr/>
        </p:nvSpPr>
        <p:spPr>
          <a:xfrm>
            <a:off x="1092200" y="45212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B9ACFF"/>
                </a:solidFill>
                <a:latin typeface="思源宋体"/>
                <a:ea typeface="思源宋体"/>
              </a:rPr>
              <a:t>「他这辈子就好这两口，初一，让他吃。」</a:t>
            </a:r>
            <a:endParaRPr lang="en-US" sz="3000" noProof="1"/>
          </a:p>
        </p:txBody>
      </p:sp>
      <p:sp>
        <p:nvSpPr>
          <p:cNvPr id="9" name="s-quote-by"/>
          <p:cNvSpPr txBox="1"/>
          <p:nvPr/>
        </p:nvSpPr>
        <p:spPr>
          <a:xfrm>
            <a:off x="1117600" y="5334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—— 协议附录 · 手写补充条款</a:t>
            </a:r>
            <a:endParaRPr lang="en-US" sz="1200" noProof="1"/>
          </a:p>
        </p:txBody>
      </p:sp>
      <p:sp>
        <p:nvSpPr>
          <p:cNvPr id="10" name="s-tail"/>
          <p:cNvSpPr txBox="1"/>
          <p:nvPr/>
        </p:nvSpPr>
        <p:spPr>
          <a:xfrm>
            <a:off x="1092200" y="5969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管家执行的从来不是医院的指标，是一个妻子偷偷留给他的清单。</a:t>
            </a:r>
            <a:endParaRPr lang="en-US" sz="14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STORY × MODEL</a:t>
            </a:r>
            <a:endParaRPr lang="en-US" sz="1100" noProof="1"/>
          </a:p>
        </p:txBody>
      </p:sp>
      <p:sp>
        <p:nvSpPr>
          <p:cNvPr id="3" name="m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09</a:t>
            </a:r>
            <a:endParaRPr lang="en-US" sz="1000" noProof="1"/>
          </a:p>
        </p:txBody>
      </p:sp>
      <p:sp>
        <p:nvSpPr>
          <p:cNvPr id="4" name="m-title"/>
          <p:cNvSpPr txBox="1"/>
          <p:nvPr/>
        </p:nvSpPr>
        <p:spPr>
          <a:xfrm>
            <a:off x="762000" y="787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选它，不只为故事，也为模型</a:t>
            </a:r>
            <a:endParaRPr lang="en-US" sz="3200" noProof="1"/>
          </a:p>
        </p:txBody>
      </p:sp>
      <p:sp>
        <p:nvSpPr>
          <p:cNvPr id="5" name="m-i1h"/>
          <p:cNvSpPr txBox="1"/>
          <p:nvPr/>
        </p:nvSpPr>
        <p:spPr>
          <a:xfrm>
            <a:off x="762000" y="177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绕开短板</a:t>
            </a:r>
            <a:endParaRPr lang="en-US" sz="1800" noProof="1"/>
          </a:p>
        </p:txBody>
      </p:sp>
      <p:sp>
        <p:nvSpPr>
          <p:cNvPr id="6" name="m-i1b"/>
          <p:cNvSpPr txBox="1"/>
          <p:nvPr/>
        </p:nvSpPr>
        <p:spPr>
          <a:xfrm>
            <a:off x="762000" y="2133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主角只有老周一人，管家只闻其声——避开视频模型最不擅长的多人对白与口型。</a:t>
            </a:r>
            <a:endParaRPr lang="en-US" sz="1300" noProof="1"/>
          </a:p>
        </p:txBody>
      </p:sp>
      <p:sp>
        <p:nvSpPr>
          <p:cNvPr id="7" name="m-r1"/>
          <p:cNvSpPr/>
          <p:nvPr/>
        </p:nvSpPr>
        <p:spPr>
          <a:xfrm>
            <a:off x="762000" y="2819400"/>
            <a:ext cx="5080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8" name="m-i2h"/>
          <p:cNvSpPr txBox="1"/>
          <p:nvPr/>
        </p:nvSpPr>
        <p:spPr>
          <a:xfrm>
            <a:off x="762000" y="304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踩中强项</a:t>
            </a:r>
            <a:endParaRPr lang="en-US" sz="1800" noProof="1"/>
          </a:p>
        </p:txBody>
      </p:sp>
      <p:sp>
        <p:nvSpPr>
          <p:cNvPr id="9" name="m-i2b"/>
          <p:cNvSpPr txBox="1"/>
          <p:nvPr/>
        </p:nvSpPr>
        <p:spPr>
          <a:xfrm>
            <a:off x="762000" y="3403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台词少、情绪靠声音与细节——正对 MiniMax-H3 原生 32kHz 立体声生成的强项。</a:t>
            </a:r>
            <a:endParaRPr lang="en-US" sz="1300" noProof="1"/>
          </a:p>
        </p:txBody>
      </p:sp>
      <p:sp>
        <p:nvSpPr>
          <p:cNvPr id="10" name="m-r2"/>
          <p:cNvSpPr/>
          <p:nvPr/>
        </p:nvSpPr>
        <p:spPr>
          <a:xfrm>
            <a:off x="762000" y="4089400"/>
            <a:ext cx="5080000" cy="12700"/>
          </a:xfrm>
          <a:prstGeom prst="rect">
            <a:avLst/>
          </a:prstGeom>
          <a:solidFill>
            <a:srgbClr val="332B4D"/>
          </a:solidFill>
          <a:ln>
            <a:noFill/>
          </a:ln>
        </p:spPr>
      </p:sp>
      <p:sp>
        <p:nvSpPr>
          <p:cNvPr id="11" name="m-i3h"/>
          <p:cNvSpPr txBox="1"/>
          <p:nvPr/>
        </p:nvSpPr>
        <p:spPr>
          <a:xfrm>
            <a:off x="762000" y="431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控制一致性</a:t>
            </a:r>
            <a:endParaRPr lang="en-US" sz="1800" noProof="1"/>
          </a:p>
        </p:txBody>
      </p:sp>
      <p:sp>
        <p:nvSpPr>
          <p:cNvPr id="12" name="m-i3b"/>
          <p:cNvSpPr txBox="1"/>
          <p:nvPr/>
        </p:nvSpPr>
        <p:spPr>
          <a:xfrm>
            <a:off x="762000" y="4673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人物单、场景少：自家厨房、客厅、楼下棋摊——全片人物一致性最好控制。</a:t>
            </a:r>
            <a:endParaRPr lang="en-US" sz="1300" noProof="1"/>
          </a:p>
        </p:txBody>
      </p:sp>
      <p:sp>
        <p:nvSpPr>
          <p:cNvPr id="13" name="m-n1"/>
          <p:cNvSpPr txBox="1"/>
          <p:nvPr/>
        </p:nvSpPr>
        <p:spPr>
          <a:xfrm>
            <a:off x="762000" y="54610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3</a:t>
            </a: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 场戏</a:t>
            </a:r>
            <a:endParaRPr lang="en-US" sz="1600" noProof="1"/>
          </a:p>
        </p:txBody>
      </p:sp>
      <p:sp>
        <p:nvSpPr>
          <p:cNvPr id="14" name="m-n2"/>
          <p:cNvSpPr txBox="1"/>
          <p:nvPr/>
        </p:nvSpPr>
        <p:spPr>
          <a:xfrm>
            <a:off x="2540000" y="5461000"/>
            <a:ext cx="177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14</a:t>
            </a: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 个节拍</a:t>
            </a:r>
            <a:endParaRPr lang="en-US" sz="1600" noProof="1"/>
          </a:p>
        </p:txBody>
      </p:sp>
      <p:sp>
        <p:nvSpPr>
          <p:cNvPr id="15" name="m-n3"/>
          <p:cNvSpPr txBox="1"/>
          <p:nvPr/>
        </p:nvSpPr>
        <p:spPr>
          <a:xfrm>
            <a:off x="4445000" y="54610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624AFF"/>
                </a:solidFill>
                <a:latin typeface="MiSans" charset="-122"/>
                <a:ea typeface="MiSans" charset="-122"/>
              </a:rPr>
              <a:t>226</a:t>
            </a:r>
            <a:r>
              <a:rPr lang="en-US" sz="14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 秒</a:t>
            </a:r>
            <a:endParaRPr lang="en-US" sz="1600" noProof="1"/>
          </a:p>
        </p:txBody>
      </p:sp>
      <p:sp>
        <p:nvSpPr>
          <p:cNvPr id="16" name="m-chart-title"/>
          <p:cNvSpPr txBox="1"/>
          <p:nvPr/>
        </p:nvSpPr>
        <p:spPr>
          <a:xfrm>
            <a:off x="6604000" y="1778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情绪曲线 · 十四个节拍（0–10 分）</a:t>
            </a:r>
            <a:endParaRPr lang="en-US" sz="1200" noProof="1"/>
          </a:p>
        </p:txBody>
      </p:sp>
      <p:graphicFrame>
        <p:nvGraphicFramePr>
          <p:cNvPr id="17" name="m-chart"/>
          <p:cNvGraphicFramePr/>
          <p:nvPr/>
        </p:nvGraphicFramePr>
        <p:xfrm>
          <a:off x="6477000" y="2057400"/>
          <a:ext cx="5080000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m-anno-low"/>
          <p:cNvSpPr txBox="1"/>
          <p:nvPr/>
        </p:nvSpPr>
        <p:spPr>
          <a:xfrm>
            <a:off x="7061200" y="5156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低谷 · 冰箱锁死（3 分）</a:t>
            </a:r>
            <a:endParaRPr lang="en-US" sz="1100" noProof="1"/>
          </a:p>
        </p:txBody>
      </p:sp>
      <p:sp>
        <p:nvSpPr>
          <p:cNvPr id="19" name="m-anno-peak"/>
          <p:cNvSpPr txBox="1"/>
          <p:nvPr/>
        </p:nvSpPr>
        <p:spPr>
          <a:xfrm>
            <a:off x="8890000" y="5156200"/>
            <a:ext cx="266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B9ACFF"/>
                </a:solidFill>
                <a:latin typeface="MiSans" charset="-122"/>
                <a:ea typeface="MiSans" charset="-122"/>
              </a:rPr>
              <a:t>顶点 · 亡妻条款（9 分）</a:t>
            </a:r>
            <a:endParaRPr lang="en-US" sz="1100" noProof="1"/>
          </a:p>
        </p:txBody>
      </p:sp>
      <p:sp>
        <p:nvSpPr>
          <p:cNvPr id="20" name="m-q"/>
          <p:cNvSpPr txBox="1"/>
          <p:nvPr/>
        </p:nvSpPr>
        <p:spPr>
          <a:xfrm>
            <a:off x="6477000" y="5791200"/>
            <a:ext cx="5080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F4F2FB"/>
                </a:solidFill>
                <a:latin typeface="MiSans" charset="-122"/>
                <a:ea typeface="MiSans" charset="-122"/>
              </a:rPr>
              <a:t>「好」，到底由谁定义？</a:t>
            </a:r>
            <a:endParaRPr lang="en-US" sz="16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片子不给答案，只把问号留在最后一个镜头里。</a:t>
            </a:r>
            <a:endParaRPr lang="en-US" sz="16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-kicker"/>
          <p:cNvSpPr txBox="1"/>
          <p:nvPr/>
        </p:nvSpPr>
        <p:spPr>
          <a:xfrm>
            <a:off x="7620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CREW</a:t>
            </a:r>
            <a:endParaRPr lang="en-US" sz="1100" noProof="1"/>
          </a:p>
        </p:txBody>
      </p:sp>
      <p:sp>
        <p:nvSpPr>
          <p:cNvPr id="3" name="c-pageno"/>
          <p:cNvSpPr txBox="1"/>
          <p:nvPr/>
        </p:nvSpPr>
        <p:spPr>
          <a:xfrm>
            <a:off x="10922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kern="0" spc="200" noProof="1">
                <a:solidFill>
                  <a:srgbClr val="6B6488"/>
                </a:solidFill>
                <a:latin typeface="MiSans" charset="-122"/>
                <a:ea typeface="MiSans" charset="-122"/>
              </a:rPr>
              <a:t>10</a:t>
            </a:r>
            <a:endParaRPr lang="en-US" sz="1000" noProof="1"/>
          </a:p>
        </p:txBody>
      </p:sp>
      <p:sp>
        <p:nvSpPr>
          <p:cNvPr id="4" name="c-title"/>
          <p:cNvSpPr txBox="1"/>
          <p:nvPr/>
        </p:nvSpPr>
        <p:spPr>
          <a:xfrm>
            <a:off x="762000" y="7874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F4F2FB"/>
                </a:solidFill>
                <a:latin typeface="MiSans" charset="-122"/>
                <a:ea typeface="MiSans" charset="-122"/>
              </a:rPr>
              <a:t>分工 · 按交接面切</a:t>
            </a:r>
            <a:endParaRPr lang="en-US" sz="3200" noProof="1"/>
          </a:p>
        </p:txBody>
      </p:sp>
      <p:graphicFrame>
        <p:nvGraphicFramePr>
          <p:cNvPr id="5" name="c-table"/>
          <p:cNvGraphicFramePr>
            <a:graphicFrameLocks noGrp="1"/>
          </p:cNvGraphicFramePr>
          <p:nvPr/>
        </p:nvGraphicFramePr>
        <p:xfrm>
          <a:off x="762000" y="1778000"/>
          <a:ext cx="10668000" cy="3403600"/>
        </p:xfrm>
        <a:graphic>
          <a:graphicData uri="http://schemas.openxmlformats.org/drawingml/2006/table">
            <a:tbl>
              <a:tblPr/>
              <a:tblGrid>
                <a:gridCol w="1600200"/>
                <a:gridCol w="2026920"/>
                <a:gridCol w="2987040"/>
                <a:gridCol w="4053840"/>
              </a:tblGrid>
              <a:tr h="544576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100" kern="0" spc="200" noProof="1">
                          <a:solidFill>
                            <a:srgbClr val="6B648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成员</a:t>
                      </a:r>
                      <a:endParaRPr lang="en-US" sz="1100" kern="0" spc="200" noProof="1">
                        <a:solidFill>
                          <a:srgbClr val="6B648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100" kern="0" spc="200" noProof="1">
                          <a:solidFill>
                            <a:srgbClr val="6B648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角色</a:t>
                      </a:r>
                      <a:endParaRPr lang="en-US" sz="1100" kern="0" spc="200" noProof="1">
                        <a:solidFill>
                          <a:srgbClr val="6B648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100" kern="0" spc="200" noProof="1">
                          <a:solidFill>
                            <a:srgbClr val="6B648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Owns</a:t>
                      </a:r>
                      <a:endParaRPr lang="en-US" sz="1100" kern="0" spc="200" noProof="1">
                        <a:solidFill>
                          <a:srgbClr val="6B648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100" kern="0" spc="200" noProof="1">
                          <a:solidFill>
                            <a:srgbClr val="6B648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独占职责</a:t>
                      </a:r>
                      <a:endParaRPr lang="en-US" sz="1100" kern="0" spc="200" noProof="1">
                        <a:solidFill>
                          <a:srgbClr val="6B648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</a:tr>
              <a:tr h="953008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沈墨</a:t>
                      </a: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涵</a:t>
                      </a:r>
                      <a:endParaRPr lang="zh-CN" altLang="en-US" sz="1400" b="1" noProof="1">
                        <a:solidFill>
                          <a:srgbClr val="624A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总导演</a:t>
                      </a:r>
                      <a:endParaRPr lang="en-US" sz="1400" b="1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编剧 Agent · 剪辑 Agent</a:t>
                      </a:r>
                      <a:r>
                        <a:rPr 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 · </a:t>
                      </a:r>
                      <a:r>
                        <a:rPr 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分镜 · 提示词</a:t>
                      </a:r>
                      <a:endParaRPr lang="en-US" sz="1400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三处人工关口裁决 · 合规自查 · 最终提交</a:t>
                      </a:r>
                      <a:r>
                        <a:rPr 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 · 魔搭创空间部署</a:t>
                      </a:r>
                      <a:endParaRPr lang="en-US" sz="1400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</a:tr>
              <a:tr h="953008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肖栋</a:t>
                      </a: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文</a:t>
                      </a:r>
                      <a:endParaRPr lang="zh-CN" altLang="en-US" sz="1400" b="1" noProof="1">
                        <a:solidFill>
                          <a:srgbClr val="624A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生成与复现</a:t>
                      </a:r>
                      <a:endParaRPr lang="en-US" sz="1400" b="1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生成 Agent · 重试 Agent</a:t>
                      </a:r>
                      <a:r>
                        <a:rPr 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 · </a:t>
                      </a:r>
                      <a:r>
                        <a:rPr lang="zh-CN" alt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生成</a:t>
                      </a:r>
                      <a:r>
                        <a:rPr lang="zh-CN" alt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视频</a:t>
                      </a:r>
                      <a:endParaRPr lang="zh-CN" altLang="en-US" sz="1400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ComfyUI API 接入 · GPU 排队与显存管理 · 全量参数留痕</a:t>
                      </a:r>
                      <a:endParaRPr lang="en-US" sz="1400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</a:tr>
              <a:tr h="953008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王宣</a:t>
                      </a:r>
                      <a:r>
                        <a:rPr lang="zh-CN" altLang="en-US" sz="1400" b="1" noProof="1">
                          <a:solidFill>
                            <a:srgbClr val="624A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皓</a:t>
                      </a:r>
                      <a:endParaRPr lang="zh-CN" altLang="en-US" sz="1400" b="1" noProof="1">
                        <a:solidFill>
                          <a:srgbClr val="624A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中间层与部署</a:t>
                      </a:r>
                      <a:endParaRPr lang="en-US" sz="1400" b="1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质检 Agent</a:t>
                      </a:r>
                      <a:r>
                        <a:rPr 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 · </a:t>
                      </a:r>
                      <a:r>
                        <a:rPr lang="zh-CN" alt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生成</a:t>
                      </a:r>
                      <a:r>
                        <a:rPr lang="zh-CN" altLang="en-US" sz="1400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视频</a:t>
                      </a:r>
                      <a:endParaRPr lang="zh-CN" altLang="en-US" sz="1400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noProof="1">
                          <a:solidFill>
                            <a:srgbClr val="F4F2F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视觉一致性资产与 R2V 参考集 · GPU 排班</a:t>
                      </a:r>
                      <a:endParaRPr lang="en-US" sz="1400" noProof="1">
                        <a:solidFill>
                          <a:srgbClr val="F4F2FB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332B4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c-bottom"/>
          <p:cNvSpPr txBox="1"/>
          <p:nvPr/>
        </p:nvSpPr>
        <p:spPr>
          <a:xfrm>
            <a:off x="762000" y="5613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契约</a:t>
            </a:r>
            <a:r>
              <a:rPr lang="zh-CN" alt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是协作的</a:t>
            </a:r>
            <a:r>
              <a:rPr lang="zh-CN" altLang="en-US" sz="1300" noProof="1">
                <a:solidFill>
                  <a:srgbClr val="A49DC4"/>
                </a:solidFill>
                <a:latin typeface="MiSans" charset="-122"/>
                <a:ea typeface="MiSans" charset="-122"/>
              </a:rPr>
              <a:t>基础</a:t>
            </a:r>
            <a:endParaRPr lang="zh-CN" altLang="en-US" sz="1300" noProof="1">
              <a:solidFill>
                <a:srgbClr val="A49DC4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4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-kicker"/>
          <p:cNvSpPr txBox="1"/>
          <p:nvPr/>
        </p:nvSpPr>
        <p:spPr>
          <a:xfrm>
            <a:off x="762000" y="711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400" noProof="1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</a:rPr>
              <a:t>LOOM × THE LIST</a:t>
            </a:r>
            <a:endParaRPr lang="en-US" sz="1100" noProof="1"/>
          </a:p>
        </p:txBody>
      </p:sp>
      <p:sp>
        <p:nvSpPr>
          <p:cNvPr id="3" name="f-big"/>
          <p:cNvSpPr txBox="1"/>
          <p:nvPr/>
        </p:nvSpPr>
        <p:spPr>
          <a:xfrm>
            <a:off x="762000" y="2286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5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机器负责生产，</a:t>
            </a:r>
            <a:endParaRPr lang="en-US" sz="5200" noProof="1"/>
          </a:p>
          <a:p>
            <a:pPr algn="l">
              <a:lnSpc>
                <a:spcPct val="150000"/>
              </a:lnSpc>
            </a:pPr>
            <a:r>
              <a:rPr lang="en-US" sz="5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人负责「好」的定义。</a:t>
            </a:r>
            <a:endParaRPr lang="en-US" sz="5200" noProof="1"/>
          </a:p>
        </p:txBody>
      </p:sp>
      <p:sp>
        <p:nvSpPr>
          <p:cNvPr id="4" name="f-line"/>
          <p:cNvSpPr/>
          <p:nvPr/>
        </p:nvSpPr>
        <p:spPr>
          <a:xfrm>
            <a:off x="762000" y="5029200"/>
            <a:ext cx="7112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f-sub"/>
          <p:cNvSpPr txBox="1"/>
          <p:nvPr/>
        </p:nvSpPr>
        <p:spPr>
          <a:xfrm>
            <a:off x="762000" y="5384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电影 Agent LOOM 与短片《清单》 · 谢谢聆听，请各位评委指正</a:t>
            </a:r>
            <a:endParaRPr lang="en-US" sz="15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</Words>
  <Application>WPS 演示</Application>
  <PresentationFormat/>
  <Paragraphs>239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思源宋体</vt:lpstr>
      <vt:lpstr>MiSans</vt:lpstr>
      <vt:lpstr>Arial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电影 Agent LOOM 与短片《清单》· 结题答辩</dc:title>
  <dc:creator/>
  <cp:lastModifiedBy>沈墨涵</cp:lastModifiedBy>
  <cp:revision>2</cp:revision>
  <dcterms:created xsi:type="dcterms:W3CDTF">2026-09-10T15:05:26Z</dcterms:created>
  <dcterms:modified xsi:type="dcterms:W3CDTF">2026-09-10T15:16:57Z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2052-12.1.0.28043</vt:lpwstr>
  </property>
  <property fmtid="{D5CDD505-2E9C-101B-9397-08002B2CF9AE}" pid="4" name="ICV">
    <vt:lpwstr>067AC25BED1F457D9BED13FCEE943AF0_12</vt:lpwstr>
  </property>
</Properties>
</file>